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443954"/>
            <a:ext cx="8382000" cy="1133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24"/>
              </a:lnSpc>
              <a:buNone/>
            </a:pPr>
            <a:r>
              <a:rPr lang="en-US" sz="336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Robust Exact-Match Counting of Mechanical Parts</a:t>
            </a:r>
            <a:endParaRPr lang="en-US" sz="3360" dirty="0"/>
          </a:p>
        </p:txBody>
      </p:sp>
      <p:sp>
        <p:nvSpPr>
          <p:cNvPr id="4" name="Text 1"/>
          <p:cNvSpPr/>
          <p:nvPr/>
        </p:nvSpPr>
        <p:spPr>
          <a:xfrm>
            <a:off x="297180" y="1863179"/>
            <a:ext cx="8549640" cy="341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88"/>
              </a:lnSpc>
              <a:buNone/>
            </a:pPr>
            <a:r>
              <a:rPr lang="en-US" sz="16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via Median-Aggregated YOLOv8 Ensembles</a:t>
            </a:r>
            <a:endParaRPr lang="en-US" sz="1680" dirty="0"/>
          </a:p>
        </p:txBody>
      </p:sp>
      <p:sp>
        <p:nvSpPr>
          <p:cNvPr id="5" name="Text 2"/>
          <p:cNvSpPr/>
          <p:nvPr/>
        </p:nvSpPr>
        <p:spPr>
          <a:xfrm>
            <a:off x="297180" y="2918892"/>
            <a:ext cx="8549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Team: </a:t>
            </a:r>
            <a:pPr algn="ctr"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97180" y="3414192"/>
            <a:ext cx="854964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Members:</a:t>
            </a:r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Priyansh Keshari, Hemant Sharma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97180" y="3705597"/>
            <a:ext cx="854964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Institution:</a:t>
            </a:r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Indian Institute of Technology (Indian School of Mines), Dhanbad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7180" y="4092253"/>
            <a:ext cx="8549640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Competition:</a:t>
            </a:r>
            <a:pPr algn="ctr"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SOLIDWORKS AI Hackathon @ IIT Madras</a:t>
            </a:r>
            <a:endParaRPr lang="en-US" sz="1320" dirty="0"/>
          </a:p>
        </p:txBody>
      </p:sp>
      <p:sp>
        <p:nvSpPr>
          <p:cNvPr id="9" name="Text 6"/>
          <p:cNvSpPr/>
          <p:nvPr/>
        </p:nvSpPr>
        <p:spPr>
          <a:xfrm>
            <a:off x="297180" y="4408066"/>
            <a:ext cx="854964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 by Dassault Systèmes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10125" y="1825675"/>
            <a:ext cx="1435447" cy="95756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77819" y="1825675"/>
            <a:ext cx="1428750" cy="95756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810125" y="2973735"/>
            <a:ext cx="1428750" cy="95756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7180" y="539800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 &amp; Dataset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81000" y="1282750"/>
            <a:ext cx="4129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" y="1730425"/>
            <a:ext cx="3857625" cy="1531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Count mechanical parts (Bolts, Nuts, Washers, Locating Pins)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Exact-Match Accuracy (one error = score 0)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Constraints: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Small objects, high class similarity, occlusion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14875" y="1282750"/>
            <a:ext cx="4129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38658" y="1968550"/>
            <a:ext cx="978381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Images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5038658" y="2235547"/>
            <a:ext cx="978381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10,000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06419" y="1968550"/>
            <a:ext cx="971550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6706419" y="2235547"/>
            <a:ext cx="9715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9,000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38725" y="3116610"/>
            <a:ext cx="971550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5038725" y="3383607"/>
            <a:ext cx="9715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1,000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14875" y="4217045"/>
            <a:ext cx="412908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</a:t>
            </a:r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Synthetic renderings by Dassault Systèmes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" y="465981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Methodology Evolution: The Research Journey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97180" y="1208931"/>
            <a:ext cx="8549640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Systematic refinement from regression to robust object detection</a:t>
            </a:r>
            <a:endParaRPr lang="en-US" sz="13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7954" y="1859384"/>
            <a:ext cx="3404443" cy="93620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67672" y="1859384"/>
            <a:ext cx="2708374" cy="93620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811982" y="3090863"/>
            <a:ext cx="2490267" cy="93620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97524" y="3090863"/>
            <a:ext cx="2734494" cy="93620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97180" y="1040234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Comparison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491779" y="1954634"/>
            <a:ext cx="3249076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26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ResNet Regression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1491779" y="2197522"/>
            <a:ext cx="3249076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→ ResNet50 → FC(4) → [bolt, nut, pin, washer]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1491779" y="2493094"/>
            <a:ext cx="3249076" cy="20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No localization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5191497" y="1954634"/>
            <a:ext cx="253908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26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Multi-Head Classif.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5191497" y="2197522"/>
            <a:ext cx="2539085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→ ResNet50 → 4×FC → 4×Argmax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5191497" y="2493094"/>
            <a:ext cx="2539085" cy="20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Overlap issues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1935807" y="3186113"/>
            <a:ext cx="231661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26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YOLOv8m Base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1935807" y="3429000"/>
            <a:ext cx="2316615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→ YOLOv8m → Boxes → Count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1935807" y="3724573"/>
            <a:ext cx="2316615" cy="20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EAB3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Breakthrough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4721349" y="3186113"/>
            <a:ext cx="2565727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26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YOLOv8m + Median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4721349" y="3429000"/>
            <a:ext cx="2565727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3×Images → YOLOv8m → Median → Final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4721349" y="3724573"/>
            <a:ext cx="2565727" cy="20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Perfect Score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-446"/>
            <a:ext cx="8382000" cy="206186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347168"/>
            <a:ext cx="8382000" cy="165080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4283720"/>
            <a:ext cx="8382000" cy="206186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7180" y="-1344960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Modular Pipeline Architecture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97180" y="-602010"/>
            <a:ext cx="8549640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Decoupled, reusable components for flexibility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609600" y="190054"/>
            <a:ext cx="81221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1: Data Preparation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600" y="637729"/>
            <a:ext cx="8122158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CSV Bounding Boxes → YOLO Format (x_center, y_center, w, h)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609600" y="1048792"/>
            <a:ext cx="8122158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90/10 Train/Validation Split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09600" y="1459855"/>
            <a:ext cx="8122158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Independent</a:t>
            </a:r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model (YOLOv8, v9, v10 compatible)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609600" y="2537668"/>
            <a:ext cx="81221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2: Training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2985343"/>
            <a:ext cx="8122158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Model:</a:t>
            </a:r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YOLOv8m | </a:t>
            </a:r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Epochs:</a:t>
            </a:r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 | </a:t>
            </a:r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Batch:</a:t>
            </a:r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16 | </a:t>
            </a:r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Imgsz:</a:t>
            </a:r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640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09600" y="3396407"/>
            <a:ext cx="8122158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Hardware: NVIDIA P100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09600" y="4474220"/>
            <a:ext cx="81221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3: Flexible Inference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9600" y="4921895"/>
            <a:ext cx="8122158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 A:</a:t>
            </a:r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Standard (Fast)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09600" y="5332958"/>
            <a:ext cx="8122158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 B:</a:t>
            </a:r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TTA with Low Thresholds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609600" y="5744021"/>
            <a:ext cx="8122158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 C:</a:t>
            </a:r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Median-Voting Ensemble (Most Robust) → </a:t>
            </a:r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WINNER</a:t>
            </a:r>
            <a:endParaRPr lang="en-US" sz="13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17897"/>
            <a:ext cx="8382000" cy="233005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933700"/>
            <a:ext cx="8382000" cy="165080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4870252"/>
            <a:ext cx="8382000" cy="161426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-1483816"/>
            <a:ext cx="838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Winning Approach: Median-Aggregated Ensemble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97180" y="-283666"/>
            <a:ext cx="8549640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we bridged the 0.002 gap to Perfect Score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609600" y="508397"/>
            <a:ext cx="81221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Test-Time Augmentation (TTA)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600" y="956072"/>
            <a:ext cx="8122158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3 independent views of each image: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895350" y="1367135"/>
            <a:ext cx="7677150" cy="995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A: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Original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B: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Horizontal Flip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C: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Vertical Flip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3124200"/>
            <a:ext cx="81221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Parallel Inference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600" y="3571875"/>
            <a:ext cx="8122158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YOLOv8m predicts independently for all 3 views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09600" y="3982938"/>
            <a:ext cx="8122158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Example:</a:t>
            </a:r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Faint washer seen in Views A &amp; C, missed in B → Votes: [4, 3, 4]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09600" y="5060752"/>
            <a:ext cx="81221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Robust Median Aggregation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5508427"/>
            <a:ext cx="8122158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Median([4, 3, 4]) = 4</a:t>
            </a:r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✓ (Correct)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609600" y="5919490"/>
            <a:ext cx="8122158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Median?</a:t>
            </a:r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Ignores outliers. Mean=3.67 could round wrongly. Max=4 over-counts.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6361"/>
            <a:ext cx="8382000" cy="359717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059287"/>
            <a:ext cx="8382000" cy="165080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97180" y="-709464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Refinement Strategies for Exact-Match Perfection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366861"/>
            <a:ext cx="81221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Error-Driven Adaptive Thresholding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814536"/>
            <a:ext cx="8122158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Tuned per-class confidence thresholds based on visual difficulty: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609600" y="4249787"/>
            <a:ext cx="81221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 Domain-Specific Logic Constraints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600" y="4697462"/>
            <a:ext cx="8122158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Physics Rule:</a:t>
            </a:r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Maximum 4 parts per type.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609600" y="5108525"/>
            <a:ext cx="8122158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count &gt; 4: count = 4 ← Final safety net against "ghost" detections</a:t>
            </a:r>
            <a:endParaRPr lang="en-US" sz="13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260872"/>
            <a:ext cx="4048125" cy="366950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810125" y="1356122"/>
            <a:ext cx="1428750" cy="95756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71121" y="1356122"/>
            <a:ext cx="1428750" cy="95756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10125" y="2504182"/>
            <a:ext cx="1428750" cy="95756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97180" y="70247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Configuration &amp; Results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381000" y="813197"/>
            <a:ext cx="4129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Hyperparameters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600" y="1451372"/>
            <a:ext cx="3701606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Model:</a:t>
            </a:r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YOLOv8m (Medium)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609600" y="1862435"/>
            <a:ext cx="3701606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Epochs:</a:t>
            </a:r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09600" y="2273498"/>
            <a:ext cx="3701606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 Size:</a:t>
            </a:r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16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609600" y="2684562"/>
            <a:ext cx="3701606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Size:</a:t>
            </a:r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640×640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09600" y="3095625"/>
            <a:ext cx="3701606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Optimizer:</a:t>
            </a:r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Auto (AdamW)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09600" y="3506688"/>
            <a:ext cx="3701606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LR (Initial):</a:t>
            </a:r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0.01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09600" y="3917752"/>
            <a:ext cx="3701606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Hardware:</a:t>
            </a:r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NVIDIA P100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609600" y="4328815"/>
            <a:ext cx="3701606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NMS IOU:</a:t>
            </a:r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0.7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4714875" y="813197"/>
            <a:ext cx="4129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Convergence Metrics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38725" y="1498997"/>
            <a:ext cx="971550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mAP50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5038725" y="1765995"/>
            <a:ext cx="9715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~0.99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699721" y="1498997"/>
            <a:ext cx="971550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Precision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699721" y="1765995"/>
            <a:ext cx="9715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~0.99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038725" y="2647057"/>
            <a:ext cx="971550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Recall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5038725" y="2914055"/>
            <a:ext cx="9715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~0.99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674394" y="3747492"/>
            <a:ext cx="4129088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 convergence over 20 epochs</a:t>
            </a:r>
            <a:endParaRPr lang="en-US" sz="11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630263"/>
            <a:ext cx="8382000" cy="3036987"/>
          </a:xfrm>
          <a:prstGeom prst="rect">
            <a:avLst/>
          </a:prstGeom>
          <a:solidFill>
            <a:srgbClr val="02061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7180" y="381000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Inference Algorithm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97180" y="1123950"/>
            <a:ext cx="8549640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logic that achieved perfect score (Score: 1.0)</a:t>
            </a:r>
            <a:endParaRPr lang="en-US" sz="1320" dirty="0"/>
          </a:p>
        </p:txBody>
      </p:sp>
      <p:sp>
        <p:nvSpPr>
          <p:cNvPr id="5" name="Text 3"/>
          <p:cNvSpPr/>
          <p:nvPr/>
        </p:nvSpPr>
        <p:spPr>
          <a:xfrm>
            <a:off x="381000" y="1630263"/>
            <a:ext cx="8382000" cy="3036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Adaptive Thresholds (Tuned via Failure Analysis)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THRESHOLDS = {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'bolt': 0.50, # High precision for distinct bolts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'washer': 0.15, # High recall for faint washers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'nut': 0.35, # Balanced trade-off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'locatingpin': 0.35 # Balanced trade-off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def predict_robust(model, image_path):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img = cv2.imread(image_path)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TTA: Generate 3 variants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variants = [img, cv2.flip(img,1), cv2.flip(img,0)]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votes = {k: [] for k in THRESHOLDS.keys()}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 variant in variants: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results = model(variant, verbose=False, iou=0.6)[0]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counts = {k: 0 for k in votes.keys()}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 box in results.boxes: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cls_name = model.names[int(box.cls)]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Apply Adaptive Thresholding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if box.conf &gt;= THRESHOLDS.get(cls_name, 0.25):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counts[cls_name] += 1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Logic Constraint: Max 4 per type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 k in counts: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votes[k].append(min(counts[k], 4))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Robust Median Aggregation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final = {k: int(np.median(v)) for k,v in votes.items()}</a:t>
            </a:r>
            <a:endParaRPr lang="en-US" sz="960" dirty="0"/>
          </a:p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 final</a:t>
            </a:r>
            <a:endParaRPr lang="en-US" sz="9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018431"/>
            <a:ext cx="8382000" cy="131653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7180" y="132606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Results &amp; Key Insights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9971" y="1208931"/>
            <a:ext cx="8122158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SCORE: 1.0000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9971" y="1756618"/>
            <a:ext cx="8122158" cy="292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Perfect Accuracy (700/700 Test Images)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381000" y="2668339"/>
            <a:ext cx="4129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" y="3116014"/>
            <a:ext cx="3857625" cy="1799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Localization Matters: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Object Detection (YOLO) vastly outperformed Regression.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Robustness &gt; Speed: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3× inference overhead justified by perfect score.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Statistics &gt; Heuristics: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Median aggregation more reliable than ad-hoc rules.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14875" y="2668339"/>
            <a:ext cx="41290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Contributions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05375" y="3116014"/>
            <a:ext cx="3857625" cy="1358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Modular, reusable pipeline for counting tasks.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Error-driven threshold tuning methodology.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Median-voting ensemble for discrete predictions.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Demonstrated perfect score in exact-match metric.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-328612"/>
            <a:ext cx="8382000" cy="332511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3282255"/>
            <a:ext cx="8382000" cy="191899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97180" y="-1214437"/>
            <a:ext cx="8549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 &amp; Future Directions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-138112"/>
            <a:ext cx="81221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309563"/>
            <a:ext cx="7962900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successfully developed a </a:t>
            </a:r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Robust Exact-Match Counting System</a:t>
            </a:r>
            <a:pPr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synthetic mechanical parts by combining: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00100" y="988814"/>
            <a:ext cx="7772400" cy="1721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YOLOv8m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(object detection backbone)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Test-Time Augmentation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(3-view ensemble)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Median Voting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(robust statistical aggregation)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Adaptive Thresholding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(class-specific tuning)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32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 Logic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(physics-based constraints)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472755"/>
            <a:ext cx="81221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0100" y="3920430"/>
            <a:ext cx="7772400" cy="995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Extend to real-world industrial images (domain adaptation).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 ensemble with YOLOv9/v10 for potential robustness gains.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Bayesian uncertainty quantification for confidence calibration.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000" y="5629870"/>
            <a:ext cx="8382000" cy="585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04"/>
              </a:lnSpc>
              <a:buNone/>
            </a:pPr>
            <a:r>
              <a:rPr lang="en-US" sz="144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pPr algn="ctr" indent="0" marL="0">
              <a:lnSpc>
                <a:spcPts val="2304"/>
              </a:lnSpc>
              <a:buNone/>
            </a:pPr>
            <a:endParaRPr lang="en-US" sz="1440" dirty="0"/>
          </a:p>
          <a:p>
            <a:pPr algn="ctr" indent="0" marL="0">
              <a:lnSpc>
                <a:spcPts val="2304"/>
              </a:lnSpc>
              <a:buNone/>
            </a:pPr>
            <a:r>
              <a:rPr lang="en-US" sz="144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Team Solid | IIT(ISM) Dhanbad | SOLIDWORKS AI Hackathon @ IIT Madras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2025-12-17T04:14:24Z</dcterms:created>
  <dcterms:modified xsi:type="dcterms:W3CDTF">2025-12-17T04:14:24Z</dcterms:modified>
</cp:coreProperties>
</file>